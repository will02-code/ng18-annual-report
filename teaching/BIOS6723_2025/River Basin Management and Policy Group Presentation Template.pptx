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317" r:id="rId2"/>
    <p:sldId id="332" r:id="rId3"/>
    <p:sldId id="336" r:id="rId4"/>
    <p:sldId id="337" r:id="rId5"/>
    <p:sldId id="333" r:id="rId6"/>
    <p:sldId id="338" r:id="rId7"/>
    <p:sldId id="343" r:id="rId8"/>
    <p:sldId id="341" r:id="rId9"/>
    <p:sldId id="342" r:id="rId10"/>
    <p:sldId id="334" r:id="rId11"/>
    <p:sldId id="339" r:id="rId12"/>
    <p:sldId id="335" r:id="rId13"/>
    <p:sldId id="340" r:id="rId14"/>
    <p:sldId id="344" r:id="rId15"/>
    <p:sldId id="315" r:id="rId16"/>
  </p:sldIdLst>
  <p:sldSz cx="12192000" cy="6858000"/>
  <p:notesSz cx="6858000" cy="9144000"/>
  <p:embeddedFontLst>
    <p:embeddedFont>
      <p:font typeface="Arial Narrow" panose="020B0606020202030204" pitchFamily="34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jIzqSh75WzysAXlhZum6Jf274y/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 Watkins" initials="" lastIdx="2" clrIdx="0"/>
  <p:cmAuthor id="1" name="Janice Kleinwort" initials="" lastIdx="2" clrIdx="1"/>
  <p:cmAuthor id="2" name="Vinita Chanan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446779-5D92-47FC-BF80-B632EA48CC94}">
  <a:tblStyle styleId="{25446779-5D92-47FC-BF80-B632EA48CC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8E22C1E-3070-4233-9D26-4290BD919550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1E8"/>
          </a:solidFill>
        </a:fill>
      </a:tcStyle>
    </a:wholeTbl>
    <a:band1H>
      <a:tcTxStyle b="off" i="off"/>
      <a:tcStyle>
        <a:tcBdr/>
        <a:fill>
          <a:solidFill>
            <a:srgbClr val="FFE2C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E2C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73" autoAdjust="0"/>
  </p:normalViewPr>
  <p:slideViewPr>
    <p:cSldViewPr snapToGrid="0">
      <p:cViewPr>
        <p:scale>
          <a:sx n="75" d="100"/>
          <a:sy n="75" d="100"/>
        </p:scale>
        <p:origin x="2616" y="5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42" Type="http://schemas.openxmlformats.org/officeDocument/2006/relationships/commentAuthors" Target="commentAuthors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43" Type="http://schemas.openxmlformats.org/officeDocument/2006/relationships/presProps" Target="presProps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774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406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8" name="Google Shape;18;p29" descr="workingfile_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96421"/>
            <a:ext cx="12288088" cy="57139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4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4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5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5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5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2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3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4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53" name="Google Shape;53;p54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: Title, text — one column, default">
  <p:cSld name="22: Title, text — one column, defaul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6"/>
          <p:cNvSpPr txBox="1">
            <a:spLocks noGrp="1"/>
          </p:cNvSpPr>
          <p:nvPr>
            <p:ph type="body" idx="1"/>
          </p:nvPr>
        </p:nvSpPr>
        <p:spPr>
          <a:xfrm>
            <a:off x="573167" y="1179000"/>
            <a:ext cx="11052400" cy="52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15000"/>
              </a:lnSpc>
              <a:spcBef>
                <a:spcPts val="533"/>
              </a:spcBef>
              <a:spcAft>
                <a:spcPts val="533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title"/>
          </p:nvPr>
        </p:nvSpPr>
        <p:spPr>
          <a:xfrm>
            <a:off x="566567" y="421200"/>
            <a:ext cx="11059200" cy="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9799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7C34-5279-B466-C846-A3B78208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1598-BCF1-4601-FEB9-D6E2FE0D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57" y="1616741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Sustainable Management and Development for the Okavango Delta: Presentation Subtitle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00249-43F0-D8FA-DD1F-D8C380EAD1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F2032D-271A-B254-CBCF-DFBD79510B74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/>
              <a:t>Country Represented (Botswana, Angola, Namibia)</a:t>
            </a:r>
          </a:p>
          <a:p>
            <a:pPr algn="ctr"/>
            <a:r>
              <a:rPr lang="en-US" sz="2400" dirty="0"/>
              <a:t>Group Members Names and Universities</a:t>
            </a:r>
          </a:p>
          <a:p>
            <a:pPr algn="ctr"/>
            <a:r>
              <a:rPr lang="en-US" sz="240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4384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CC2E-0793-24E9-0A15-9D4FA978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iver flowing through a field&#10;&#10;AI-generated content may be incorrect.">
            <a:extLst>
              <a:ext uri="{FF2B5EF4-FFF2-40B4-BE49-F238E27FC236}">
                <a16:creationId xmlns:a16="http://schemas.microsoft.com/office/drawing/2014/main" id="{6A7501B9-DFAF-94AE-4073-5F7663A3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83" b="-1"/>
          <a:stretch/>
        </p:blipFill>
        <p:spPr>
          <a:xfrm>
            <a:off x="0" y="0"/>
            <a:ext cx="12192000" cy="6333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DD597A-996A-F9F1-5000-899030A8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Introduction to the Okavango Delta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1640-4708-7E47-622E-2B02831DCC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E4C2C8-CECB-9A67-8E6B-98E2E76774D1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599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2C43-9754-E1FA-7DF8-9DF4D8C7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Okavango Delta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325A-235E-26F0-A868-DB156D013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Geography, climate, hydrology</a:t>
            </a:r>
          </a:p>
          <a:p>
            <a:r>
              <a:rPr lang="en-US" dirty="0"/>
              <a:t>Importance to ecosystems and communities</a:t>
            </a:r>
          </a:p>
          <a:p>
            <a:r>
              <a:rPr lang="en-US" dirty="0"/>
              <a:t>Water management and governance regime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56ED2-6469-51A2-F8A9-5819204E2B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7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5910-A214-544D-1065-D9E6E93F2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4D0C-F726-893C-2B1D-93A3FD3D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Context: Spotlight on (Botswana, Namibia, Angola)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2C315-3A64-1915-E8B5-5118181EC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Country-specific climate, geography, hydrology</a:t>
            </a:r>
          </a:p>
          <a:p>
            <a:r>
              <a:rPr lang="en-US" dirty="0"/>
              <a:t>Social, economic, cultural context</a:t>
            </a:r>
          </a:p>
          <a:p>
            <a:r>
              <a:rPr lang="en-US" dirty="0"/>
              <a:t>Current water use and development goals</a:t>
            </a:r>
          </a:p>
          <a:p>
            <a:r>
              <a:rPr lang="en-US" dirty="0"/>
              <a:t>Status on SDG 6 implementation </a:t>
            </a:r>
          </a:p>
          <a:p>
            <a:pPr marL="254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14DD1-C649-2E31-912D-7FAEC6FA77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3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7BE1-0884-D47E-DDDD-A9E3BA6F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E0E2-1D24-BCBA-989D-1594F7BF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Sustainable Management and Development for the Okavango Delta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A9145-211F-F11B-9D05-185AE988E9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D7AEEE-1EE1-EE81-F3E9-080DE01796FF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/>
              <a:t>Strategy Title for (Botswana, Namibia, Angola)</a:t>
            </a:r>
          </a:p>
        </p:txBody>
      </p:sp>
    </p:spTree>
    <p:extLst>
      <p:ext uri="{BB962C8B-B14F-4D97-AF65-F5344CB8AC3E}">
        <p14:creationId xmlns:p14="http://schemas.microsoft.com/office/powerpoint/2010/main" val="140831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D124-8727-DC9F-79EB-891CCF8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Sustainable Development Strategy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50CA0-2E44-2152-417E-85A84E718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3-5 key strategies for sustainable development for (Botswana, Namibia, Angola), within the broader context the Okavango Delta</a:t>
            </a:r>
          </a:p>
          <a:p>
            <a:r>
              <a:rPr lang="en-US" dirty="0"/>
              <a:t>Timeline for implementation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60A2C-CCAD-42AC-E30E-B29C146D5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6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5279-EBA3-4E91-C870-23C18CC40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692E-E456-D243-AAFF-DC10737E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Ecological Impacts and Conservation Opportunities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AEBEF-DB97-124D-93E0-F46DE2FD5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your sustainable management and development strategy, identify:</a:t>
            </a:r>
          </a:p>
          <a:p>
            <a:pPr lvl="1"/>
            <a:r>
              <a:rPr lang="en-US" dirty="0"/>
              <a:t>Anticipated effects on river systems, including flow regimes and aquatic systems</a:t>
            </a:r>
          </a:p>
          <a:p>
            <a:pPr lvl="1"/>
            <a:r>
              <a:rPr lang="en-US" dirty="0"/>
              <a:t>Anticipated effects on wildlife and habitats</a:t>
            </a:r>
          </a:p>
          <a:p>
            <a:pPr lvl="1"/>
            <a:r>
              <a:rPr lang="en-US" dirty="0"/>
              <a:t>Opportunities to achieve conservation goals</a:t>
            </a:r>
          </a:p>
          <a:p>
            <a:r>
              <a:rPr lang="en-US" dirty="0"/>
              <a:t>Proposed indicators and monitoring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A25E8-3C2B-0799-0E26-879D29F75F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8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D98B-A93A-0E10-2BA7-35829450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35A6-A688-3C0E-8BF9-DFF7EDA6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Socioeconomic Impacts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95266-CE5E-DA38-C038-A5C6F38A9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your sustainable management and </a:t>
            </a:r>
            <a:r>
              <a:rPr lang="en-US" dirty="0" err="1"/>
              <a:t>evelopment</a:t>
            </a:r>
            <a:r>
              <a:rPr lang="en-US" dirty="0"/>
              <a:t> strategy, identify:</a:t>
            </a:r>
          </a:p>
          <a:p>
            <a:pPr lvl="1"/>
            <a:r>
              <a:rPr lang="en-US" dirty="0"/>
              <a:t>Potential benefits and costs (including economic, social and cultural costs and benefits)</a:t>
            </a:r>
          </a:p>
          <a:p>
            <a:pPr lvl="1"/>
            <a:r>
              <a:rPr lang="en-US" dirty="0"/>
              <a:t>Equity and distribution of costs and benefits across</a:t>
            </a:r>
          </a:p>
          <a:p>
            <a:pPr lvl="1"/>
            <a:r>
              <a:rPr lang="en-US" dirty="0"/>
              <a:t>Consideration of vs. upstream and downstream effects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0DC87-7B4D-37E4-9E5D-83F04D969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7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E57B-C9D0-9D84-9E83-D47082C88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C806-0800-5778-77C0-61F03568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Identification &amp; Analysis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01EF-594B-21CC-528F-BBD0480EB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your sustainable management and development strategy, identify:</a:t>
            </a:r>
          </a:p>
          <a:p>
            <a:pPr lvl="1"/>
            <a:r>
              <a:rPr lang="en-US" dirty="0"/>
              <a:t>Key stakeholders across social and economic sectors</a:t>
            </a:r>
          </a:p>
          <a:p>
            <a:pPr lvl="1"/>
            <a:r>
              <a:rPr lang="en-US" dirty="0"/>
              <a:t>Key stakeholders across governance levels</a:t>
            </a:r>
          </a:p>
          <a:p>
            <a:pPr lvl="1"/>
            <a:r>
              <a:rPr lang="en-US" dirty="0"/>
              <a:t>Proposed approach for participatory engagement and collaborative governance within country and between countries </a:t>
            </a:r>
          </a:p>
          <a:p>
            <a:pPr lvl="1"/>
            <a:r>
              <a:rPr lang="en-US" dirty="0"/>
              <a:t>Note any special considerations for equity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AECAE-DA2E-D7A7-D9B5-22A447D6C1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1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C2EB8-C7C8-44BC-56C8-E3CFFE27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4559-9014-2D8A-BF85-5C49EF43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Sustainable Management and Development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E6B64-7BAC-F504-ACA8-F4469CDBCB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FB893F-C47A-FE25-2A6A-86C364A81443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/>
              <a:t>Implementation for (proposed strategy)</a:t>
            </a:r>
          </a:p>
        </p:txBody>
      </p:sp>
    </p:spTree>
    <p:extLst>
      <p:ext uri="{BB962C8B-B14F-4D97-AF65-F5344CB8AC3E}">
        <p14:creationId xmlns:p14="http://schemas.microsoft.com/office/powerpoint/2010/main" val="43679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F8CA4-A345-0E9A-093A-F9B5AB73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AEE7-8C73-B1CA-ED44-B8EC8C84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671E0-68C1-B0C7-CA1B-AE7B30A66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Building upon the prior sections, identify 3-5 specific management actions to accomplish your overall strategy </a:t>
            </a:r>
          </a:p>
          <a:p>
            <a:r>
              <a:rPr lang="en-US" dirty="0"/>
              <a:t>Note any roadblocks, resource needs or alliances needed to implement your plan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B137B-7B0E-5BC2-52E4-4F4E475B49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56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1907-387F-E840-18F9-482687E7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palm trees at sunset&#10;&#10;AI-generated content may be incorrect.">
            <a:extLst>
              <a:ext uri="{FF2B5EF4-FFF2-40B4-BE49-F238E27FC236}">
                <a16:creationId xmlns:a16="http://schemas.microsoft.com/office/drawing/2014/main" id="{C31EA1A5-EAC2-DFF6-2DDE-AD85C3D89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211"/>
          <a:stretch/>
        </p:blipFill>
        <p:spPr>
          <a:xfrm>
            <a:off x="-85272" y="0"/>
            <a:ext cx="122772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9551F6-4EC2-84B4-D04D-7D64C004A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Conclusion and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18FC-2CE0-4960-A785-A3CCBC4E6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40B1CB-78A8-D00A-68E1-96066F544CA9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4389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271B-269B-81C7-1C14-EEF50C72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DD35-B228-AC3D-324C-44C14F8D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Conclusion and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A1124-E042-A2D8-4EC0-1E3BBAF59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your final recommendations</a:t>
            </a:r>
          </a:p>
          <a:p>
            <a:r>
              <a:rPr lang="en-US" dirty="0"/>
              <a:t>Call to action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B2757-CFBA-D636-2A2A-A064E01724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74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2826-F795-28AF-267B-861BDE98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75BD-AD73-012B-A796-A871F765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Stakeholder Question &amp; Answers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0BE15-3459-D4DB-73A7-EC26102D6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54B96A-84D8-D407-1D3E-906A6A87C710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4246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 idx="4294967295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</a:pPr>
            <a:r>
              <a:rPr lang="en-US"/>
              <a:t>Holding Page for Executive Summary / Presentation Overview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4294967295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318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Tbc last once final content is agreed</a:t>
            </a:r>
            <a:endParaRPr/>
          </a:p>
          <a:p>
            <a:pPr marL="457200" marR="0" lvl="0" indent="-2286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>
              <a:highlight>
                <a:srgbClr val="FFFF00"/>
              </a:highlight>
            </a:endParaRPr>
          </a:p>
          <a:p>
            <a:pPr marL="457200" marR="0" lvl="0" indent="-4318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Note: all formatting (including colours and font size) to be edited/reviewed once text is agreed</a:t>
            </a:r>
            <a:endParaRPr>
              <a:highlight>
                <a:srgbClr val="FFFF00"/>
              </a:highlight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0525" y="2543075"/>
            <a:ext cx="4618174" cy="291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88733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3F185E34AE8445A258416BCE4C4790" ma:contentTypeVersion="15" ma:contentTypeDescription="Create a new document." ma:contentTypeScope="" ma:versionID="9dd71225fe2c515185138edf54b0840c">
  <xsd:schema xmlns:xsd="http://www.w3.org/2001/XMLSchema" xmlns:xs="http://www.w3.org/2001/XMLSchema" xmlns:p="http://schemas.microsoft.com/office/2006/metadata/properties" xmlns:ns2="caf87056-3fd3-4038-9c52-89882ecde542" xmlns:ns3="4402e8a7-1b7c-4b21-babd-e2cbbfb12e1e" targetNamespace="http://schemas.microsoft.com/office/2006/metadata/properties" ma:root="true" ma:fieldsID="372c34ec370559d7db21b77c8beddc41" ns2:_="" ns3:_="">
    <xsd:import namespace="caf87056-3fd3-4038-9c52-89882ecde542"/>
    <xsd:import namespace="4402e8a7-1b7c-4b21-babd-e2cbbfb12e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87056-3fd3-4038-9c52-89882ecde5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2e8a7-1b7c-4b21-babd-e2cbbfb12e1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d48e018-f0f4-41cf-aecd-d8dbd2aa4cdd}" ma:internalName="TaxCatchAll" ma:showField="CatchAllData" ma:web="4402e8a7-1b7c-4b21-babd-e2cbbfb12e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02e8a7-1b7c-4b21-babd-e2cbbfb12e1e" xsi:nil="true"/>
    <lcf76f155ced4ddcb4097134ff3c332f xmlns="caf87056-3fd3-4038-9c52-89882ecde5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6B915CB-BF87-43D7-927A-77B6804D7626}"/>
</file>

<file path=customXml/itemProps2.xml><?xml version="1.0" encoding="utf-8"?>
<ds:datastoreItem xmlns:ds="http://schemas.openxmlformats.org/officeDocument/2006/customXml" ds:itemID="{85822E2D-2EC6-4E34-92D0-90C285945418}"/>
</file>

<file path=customXml/itemProps3.xml><?xml version="1.0" encoding="utf-8"?>
<ds:datastoreItem xmlns:ds="http://schemas.openxmlformats.org/officeDocument/2006/customXml" ds:itemID="{C4A0382D-7325-4E7B-8F01-6822CC8C7ACB}"/>
</file>

<file path=docProps/app.xml><?xml version="1.0" encoding="utf-8"?>
<Properties xmlns="http://schemas.openxmlformats.org/officeDocument/2006/extended-properties" xmlns:vt="http://schemas.openxmlformats.org/officeDocument/2006/docPropsVTypes">
  <TotalTime>4348</TotalTime>
  <Words>375</Words>
  <Application>Microsoft Office PowerPoint</Application>
  <PresentationFormat>Widescreen</PresentationFormat>
  <Paragraphs>65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Georgia</vt:lpstr>
      <vt:lpstr>Arial Narrow</vt:lpstr>
      <vt:lpstr>Arial</vt:lpstr>
      <vt:lpstr>Simple Light</vt:lpstr>
      <vt:lpstr>Sustainable Management and Development for the Okavango Delta: Presentation Subtitle</vt:lpstr>
      <vt:lpstr>Introduction to the Okavango Delta</vt:lpstr>
      <vt:lpstr>Introduction to the Okavango Delta</vt:lpstr>
      <vt:lpstr>Country Context: Spotlight on (Botswana, Namibia, Angola)</vt:lpstr>
      <vt:lpstr>Sustainable Management and Development for the Okavango Delta</vt:lpstr>
      <vt:lpstr>Proposed Sustainable Development Strategy </vt:lpstr>
      <vt:lpstr>Ecological Impacts and Conservation Opportunities</vt:lpstr>
      <vt:lpstr>Socioeconomic Impacts Assessment</vt:lpstr>
      <vt:lpstr>Stakeholder Identification &amp; Analysis </vt:lpstr>
      <vt:lpstr>Sustainable Management and Development Plan</vt:lpstr>
      <vt:lpstr>Implementation Plan</vt:lpstr>
      <vt:lpstr>Conclusion and Recommendations</vt:lpstr>
      <vt:lpstr> Conclusion and Recommendations</vt:lpstr>
      <vt:lpstr>Stakeholder Question &amp; Answers</vt:lpstr>
      <vt:lpstr>Holding Page for Executive Summary / Presentation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Holding Page for Executive Summary / Presentation Overview</dc:title>
  <dc:creator>Jo Griffiths</dc:creator>
  <cp:lastModifiedBy>Dave White</cp:lastModifiedBy>
  <cp:revision>31</cp:revision>
  <dcterms:created xsi:type="dcterms:W3CDTF">2020-02-13T05:58:31Z</dcterms:created>
  <dcterms:modified xsi:type="dcterms:W3CDTF">2025-06-12T21:53:16Z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0x010100853F185E34AE8445A258416BCE4C4790</vt:lpwstr>
  </property>
</Properties>
</file>
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317" r:id="rId2"/>
    <p:sldId id="332" r:id="rId3"/>
    <p:sldId id="336" r:id="rId4"/>
    <p:sldId id="337" r:id="rId5"/>
    <p:sldId id="333" r:id="rId6"/>
    <p:sldId id="345" r:id="rId7"/>
    <p:sldId id="342" r:id="rId8"/>
    <p:sldId id="350" r:id="rId9"/>
    <p:sldId id="338" r:id="rId10"/>
    <p:sldId id="346" r:id="rId11"/>
    <p:sldId id="339" r:id="rId12"/>
    <p:sldId id="349" r:id="rId13"/>
    <p:sldId id="351" r:id="rId14"/>
    <p:sldId id="352" r:id="rId15"/>
    <p:sldId id="348" r:id="rId16"/>
    <p:sldId id="353" r:id="rId17"/>
    <p:sldId id="335" r:id="rId18"/>
    <p:sldId id="340" r:id="rId19"/>
    <p:sldId id="344" r:id="rId20"/>
    <p:sldId id="315" r:id="rId21"/>
  </p:sldIdLst>
  <p:sldSz cx="12192000" cy="6858000"/>
  <p:notesSz cx="6858000" cy="9144000"/>
  <p:embeddedFontLst>
    <p:embeddedFont>
      <p:font typeface="Arial Narrow" panose="020B0604020202020204" pitchFamily="3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Georgia" panose="02040502050405020303" pitchFamily="18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jIzqSh75WzysAXlhZum6Jf274y/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 Watkins" initials="" lastIdx="2" clrIdx="0"/>
  <p:cmAuthor id="1" name="Janice Kleinwort" initials="" lastIdx="2" clrIdx="1"/>
  <p:cmAuthor id="2" name="Vinita Chanan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446779-5D92-47FC-BF80-B632EA48CC94}">
  <a:tblStyle styleId="{25446779-5D92-47FC-BF80-B632EA48CC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8E22C1E-3070-4233-9D26-4290BD91955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1E8"/>
          </a:solidFill>
        </a:fill>
      </a:tcStyle>
    </a:wholeTbl>
    <a:band1H>
      <a:tcTxStyle b="off" i="off"/>
      <a:tcStyle>
        <a:tcBdr/>
        <a:fill>
          <a:solidFill>
            <a:srgbClr val="FFE2C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E2C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3474" autoAdjust="0"/>
  </p:normalViewPr>
  <p:slideViewPr>
    <p:cSldViewPr snapToGrid="0">
      <p:cViewPr varScale="1">
        <p:scale>
          <a:sx n="79" d="100"/>
          <a:sy n="79" d="100"/>
        </p:scale>
        <p:origin x="1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commentAuthors" Target="commentAuthors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5881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1736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774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406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" name="Google Shape;18;p29" descr="workingfile_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96421"/>
            <a:ext cx="12288088" cy="5713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5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5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5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2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3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4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53" name="Google Shape;53;p54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: Title, text — one column, default">
  <p:cSld name="22: Title, text — one column, defaul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"/>
          <p:cNvSpPr txBox="1">
            <a:spLocks noGrp="1"/>
          </p:cNvSpPr>
          <p:nvPr>
            <p:ph type="body" idx="1"/>
          </p:nvPr>
        </p:nvSpPr>
        <p:spPr>
          <a:xfrm>
            <a:off x="573167" y="1179000"/>
            <a:ext cx="11052400" cy="5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15000"/>
              </a:lnSpc>
              <a:spcBef>
                <a:spcPts val="533"/>
              </a:spcBef>
              <a:spcAft>
                <a:spcPts val="533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title"/>
          </p:nvPr>
        </p:nvSpPr>
        <p:spPr>
          <a:xfrm>
            <a:off x="566567" y="421200"/>
            <a:ext cx="11059200" cy="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9799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7C34-5279-B466-C846-A3B78208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1598-BCF1-4601-FEB9-D6E2FE0D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57" y="1616741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Sustainable Management and Development for the Cubango Okavango River Basin: Building Community Resilience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00249-43F0-D8FA-DD1F-D8C380EAD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F2032D-271A-B254-CBCF-DFBD79510B74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Namibia</a:t>
            </a:r>
          </a:p>
          <a:p>
            <a:pPr algn="ctr"/>
            <a:r>
              <a:rPr lang="en-US" sz="2400" dirty="0"/>
              <a:t>Christian, Paige, One, Lucia, Imagen, Sarah – ASU, UNSW, ORI</a:t>
            </a:r>
          </a:p>
          <a:p>
            <a:pPr algn="ctr"/>
            <a:r>
              <a:rPr lang="en-US" sz="2400" dirty="0"/>
              <a:t>July 6, 2025</a:t>
            </a:r>
          </a:p>
        </p:txBody>
      </p:sp>
    </p:spTree>
    <p:extLst>
      <p:ext uri="{BB962C8B-B14F-4D97-AF65-F5344CB8AC3E}">
        <p14:creationId xmlns:p14="http://schemas.microsoft.com/office/powerpoint/2010/main" val="324384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CC2E-0793-24E9-0A15-9D4FA978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iver flowing through a field&#10;&#10;AI-generated content may be incorrect.">
            <a:extLst>
              <a:ext uri="{FF2B5EF4-FFF2-40B4-BE49-F238E27FC236}">
                <a16:creationId xmlns:a16="http://schemas.microsoft.com/office/drawing/2014/main" id="{6A7501B9-DFAF-94AE-4073-5F7663A3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83" b="-1"/>
          <a:stretch/>
        </p:blipFill>
        <p:spPr>
          <a:xfrm>
            <a:off x="0" y="0"/>
            <a:ext cx="12192000" cy="6333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DD597A-996A-F9F1-5000-899030A8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Introduction to the Cubango Okavango River Basin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1640-4708-7E47-622E-2B02831DCC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E4C2C8-CECB-9A67-8E6B-98E2E76774D1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59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2C43-9754-E1FA-7DF8-9DF4D8C7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Cubango Okavango River Basin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325A-235E-26F0-A868-DB156D013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17638"/>
            <a:ext cx="10972800" cy="4525963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The basin is 13500km2 in area</a:t>
            </a:r>
          </a:p>
          <a:p>
            <a:r>
              <a:rPr lang="en-US" sz="2000" dirty="0">
                <a:solidFill>
                  <a:schemeClr val="tx1"/>
                </a:solidFill>
              </a:rPr>
              <a:t>Semi arid climate</a:t>
            </a:r>
          </a:p>
          <a:p>
            <a:r>
              <a:rPr lang="en-US" sz="2000" dirty="0">
                <a:solidFill>
                  <a:schemeClr val="tx1"/>
                </a:solidFill>
              </a:rPr>
              <a:t>Globally important for biodiversity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Headwaters in Angola, Runs through North East Namibia and flows into North West Botswana.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local people of the region are the San people, however, other groups have migrated in over time, such as the Setswana.</a:t>
            </a:r>
          </a:p>
          <a:p>
            <a:r>
              <a:rPr lang="en-US" sz="2000" dirty="0">
                <a:solidFill>
                  <a:schemeClr val="tx1"/>
                </a:solidFill>
              </a:rPr>
              <a:t>OKACOM is the main water management agency, however all countries also manage their own sections of the basin.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56ED2-6469-51A2-F8A9-5819204E2B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7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5910-A214-544D-1065-D9E6E93F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4D0C-F726-893C-2B1D-93A3FD3D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Context: Spotlight on Namibia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C315-3A64-1915-E8B5-5118181EC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66018"/>
            <a:ext cx="10972800" cy="4525963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Arid country – 92% very-semi arid. Namibia is the driest nation in Sub-Saharan Africa, and is getting hotter and drier</a:t>
            </a:r>
          </a:p>
          <a:p>
            <a:r>
              <a:rPr lang="en-US" sz="1600" dirty="0">
                <a:solidFill>
                  <a:schemeClr val="tx1"/>
                </a:solidFill>
              </a:rPr>
              <a:t>Rainfall variable – 278mm/year average; high of 650 mm in North East and less than 50mm in the South West.</a:t>
            </a:r>
          </a:p>
          <a:p>
            <a:r>
              <a:rPr lang="en-US" sz="1600" dirty="0">
                <a:solidFill>
                  <a:schemeClr val="tx1"/>
                </a:solidFill>
              </a:rPr>
              <a:t>Average temperatures vary between 14-24 degrees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Namibia is a poor country, with a annual GDP around $13 billion USD. Tertiary industry the most important, followed by Mining and Agriculture.</a:t>
            </a:r>
          </a:p>
          <a:p>
            <a:r>
              <a:rPr lang="en-US" sz="1600" dirty="0">
                <a:solidFill>
                  <a:schemeClr val="tx1"/>
                </a:solidFill>
              </a:rPr>
              <a:t>Bordered by Angola, Zambia, Botswana and South Africa. Only a small part of the panhandle, but essential.</a:t>
            </a:r>
          </a:p>
          <a:p>
            <a:r>
              <a:rPr lang="en-US" sz="1600" dirty="0">
                <a:solidFill>
                  <a:schemeClr val="tx1"/>
                </a:solidFill>
              </a:rPr>
              <a:t>Local people include the Ovambo, Kavango, Herero and </a:t>
            </a:r>
            <a:r>
              <a:rPr lang="en-US" sz="1600" dirty="0" err="1">
                <a:solidFill>
                  <a:schemeClr val="tx1"/>
                </a:solidFill>
              </a:rPr>
              <a:t>Himba</a:t>
            </a:r>
            <a:r>
              <a:rPr lang="en-US" sz="1600" dirty="0">
                <a:solidFill>
                  <a:schemeClr val="tx1"/>
                </a:solidFill>
              </a:rPr>
              <a:t> people</a:t>
            </a:r>
          </a:p>
          <a:p>
            <a:r>
              <a:rPr lang="en-US" sz="1600" dirty="0">
                <a:solidFill>
                  <a:schemeClr val="tx1"/>
                </a:solidFill>
              </a:rPr>
              <a:t>Most of the water is used by agriculture and domestic use.</a:t>
            </a:r>
          </a:p>
          <a:p>
            <a:r>
              <a:rPr lang="en-US" sz="1600" dirty="0">
                <a:solidFill>
                  <a:schemeClr val="tx1"/>
                </a:solidFill>
              </a:rPr>
              <a:t>Has clean drinking water, however sanitation needs improvement</a:t>
            </a:r>
          </a:p>
          <a:p>
            <a:r>
              <a:rPr lang="en-US" sz="1600" dirty="0">
                <a:solidFill>
                  <a:schemeClr val="tx1"/>
                </a:solidFill>
              </a:rPr>
              <a:t>6.9% of Namibia’s GDP is from tourism</a:t>
            </a:r>
          </a:p>
          <a:p>
            <a:r>
              <a:rPr lang="en-US" sz="1600" dirty="0">
                <a:solidFill>
                  <a:schemeClr val="tx1"/>
                </a:solidFill>
              </a:rPr>
              <a:t>43.3% of the population in Namibia faces multidimensional poverty (NPR Report)</a:t>
            </a:r>
          </a:p>
          <a:p>
            <a:r>
              <a:rPr lang="en-US" sz="1600" dirty="0">
                <a:solidFill>
                  <a:schemeClr val="tx1"/>
                </a:solidFill>
              </a:rPr>
              <a:t>Goals for water use and development align with SDG 6 goals, however is yet to succeed with any, and is behind trajectory for the 2030 goal completion date.</a:t>
            </a:r>
          </a:p>
          <a:p>
            <a:pPr marL="25400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14DD1-C649-2E31-912D-7FAEC6FA77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3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7BE1-0884-D47E-DDDD-A9E3BA6F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E0E2-1D24-BCBA-989D-1594F7BF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Sustainable Management and Development for the Okavango Delta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A9145-211F-F11B-9D05-185AE988E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D7AEEE-1EE1-EE81-F3E9-080DE01796FF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Building Resilient Communities for Namibia</a:t>
            </a:r>
          </a:p>
        </p:txBody>
      </p:sp>
    </p:spTree>
    <p:extLst>
      <p:ext uri="{BB962C8B-B14F-4D97-AF65-F5344CB8AC3E}">
        <p14:creationId xmlns:p14="http://schemas.microsoft.com/office/powerpoint/2010/main" val="140831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4995-2836-33AA-9118-BA41FCE2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952"/>
            <a:ext cx="10972800" cy="1143000"/>
          </a:xfrm>
        </p:spPr>
        <p:txBody>
          <a:bodyPr/>
          <a:lstStyle/>
          <a:p>
            <a:r>
              <a:rPr lang="en-US" sz="3500" dirty="0"/>
              <a:t>Our Values and Guiding Principles: Improved Livelihoods and Ecological Conservation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A0894-C8E7-CFC1-3EE9-20B72B33D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18739"/>
            <a:ext cx="10972800" cy="4525963"/>
          </a:xfrm>
        </p:spPr>
        <p:txBody>
          <a:bodyPr/>
          <a:lstStyle/>
          <a:p>
            <a:r>
              <a:rPr lang="en-US" sz="2800" dirty="0"/>
              <a:t>Water Security and Sustainability</a:t>
            </a:r>
          </a:p>
          <a:p>
            <a:pPr lvl="1"/>
            <a:r>
              <a:rPr lang="en-US" sz="2600" dirty="0"/>
              <a:t>Water for a desert nation, experiencing climate change</a:t>
            </a:r>
          </a:p>
          <a:p>
            <a:pPr lvl="1"/>
            <a:r>
              <a:rPr lang="en-US" sz="2600" dirty="0"/>
              <a:t>Water to support agriculture</a:t>
            </a:r>
          </a:p>
          <a:p>
            <a:pPr lvl="1"/>
            <a:r>
              <a:rPr lang="en-US" sz="2600" dirty="0"/>
              <a:t>Water for biodiversity in the Okavango, ecological protection</a:t>
            </a:r>
            <a:endParaRPr lang="en-US" dirty="0"/>
          </a:p>
          <a:p>
            <a:r>
              <a:rPr lang="en-US" sz="2800" dirty="0"/>
              <a:t>Economic development</a:t>
            </a:r>
          </a:p>
          <a:p>
            <a:pPr lvl="1"/>
            <a:r>
              <a:rPr lang="en-US" sz="2600" dirty="0"/>
              <a:t>Increased agricultural yields through farming methods (land use and sustainable agriculture)</a:t>
            </a:r>
          </a:p>
          <a:p>
            <a:pPr lvl="1"/>
            <a:r>
              <a:rPr lang="en-US" sz="2600" dirty="0"/>
              <a:t>Community mutual resource management</a:t>
            </a:r>
          </a:p>
          <a:p>
            <a:pPr lvl="1"/>
            <a:r>
              <a:rPr lang="en-US" sz="2600" dirty="0"/>
              <a:t>Sustainable tourism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17BD-3518-B846-DAC9-0B63A1C549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4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E57B-C9D0-9D84-9E83-D47082C8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C806-0800-5778-77C0-61F03568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Identification &amp; Analysis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01EF-594B-21CC-528F-BBD0480EB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WWF-Namibia (World Wide Fund for Nature)</a:t>
            </a:r>
          </a:p>
          <a:p>
            <a:pPr lvl="1"/>
            <a:r>
              <a:rPr lang="en-US" dirty="0"/>
              <a:t>Funding and technical help to communal conservancies </a:t>
            </a:r>
          </a:p>
          <a:p>
            <a:r>
              <a:rPr lang="en-US" dirty="0"/>
              <a:t>NASCO (Namibian Association of CBRNM Support Organizations)</a:t>
            </a:r>
          </a:p>
          <a:p>
            <a:pPr lvl="1"/>
            <a:r>
              <a:rPr lang="en-US" dirty="0"/>
              <a:t>Community Wildlife management</a:t>
            </a:r>
          </a:p>
          <a:p>
            <a:pPr lvl="1"/>
            <a:r>
              <a:rPr lang="en-US" dirty="0"/>
              <a:t>Multiorganizational </a:t>
            </a:r>
          </a:p>
          <a:p>
            <a:pPr lvl="1"/>
            <a:r>
              <a:rPr lang="en-US" dirty="0"/>
              <a:t>Ecological research</a:t>
            </a:r>
          </a:p>
          <a:p>
            <a:pPr marL="254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AECAE-DA2E-D7A7-D9B5-22A447D6C1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1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5F6A-EDAD-9B4B-471D-225C6E4A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Identification &amp;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47F40-E85B-EC10-385C-0C15F50F3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Farmers</a:t>
            </a:r>
          </a:p>
          <a:p>
            <a:pPr lvl="1"/>
            <a:r>
              <a:rPr lang="en-US" dirty="0"/>
              <a:t>Rely on clean water from basin</a:t>
            </a:r>
          </a:p>
          <a:p>
            <a:r>
              <a:rPr lang="en-US" dirty="0"/>
              <a:t>Ministry of Environment and Forestry</a:t>
            </a:r>
          </a:p>
          <a:p>
            <a:pPr lvl="1"/>
            <a:r>
              <a:rPr lang="en-US" dirty="0"/>
              <a:t>Encourage tourism with Conservation</a:t>
            </a:r>
          </a:p>
          <a:p>
            <a:pPr lvl="1"/>
            <a:r>
              <a:rPr lang="en-US" dirty="0"/>
              <a:t>Oversee tourism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1A5A2-0715-09A4-DE2C-6B96DDA848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85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D124-8727-DC9F-79EB-891CCF83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1"/>
            <a:ext cx="10972800" cy="1143000"/>
          </a:xfrm>
        </p:spPr>
        <p:txBody>
          <a:bodyPr/>
          <a:lstStyle/>
          <a:p>
            <a:r>
              <a:rPr lang="en-US" dirty="0"/>
              <a:t>Proposed Sustainable Development Strategy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50CA0-2E44-2152-417E-85A84E718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Tackling each area of focus:</a:t>
            </a:r>
          </a:p>
          <a:p>
            <a:pPr marL="25400" indent="0">
              <a:buNone/>
            </a:pPr>
            <a:r>
              <a:rPr lang="en-US" dirty="0"/>
              <a:t>- Agriculture</a:t>
            </a:r>
          </a:p>
          <a:p>
            <a:pPr marL="25400" indent="0">
              <a:buNone/>
            </a:pPr>
            <a:r>
              <a:rPr lang="en-US" dirty="0"/>
              <a:t>- Water Management</a:t>
            </a:r>
          </a:p>
          <a:p>
            <a:pPr marL="25400" indent="0">
              <a:buNone/>
            </a:pPr>
            <a:r>
              <a:rPr lang="en-US" dirty="0"/>
              <a:t>- Tourism</a:t>
            </a:r>
          </a:p>
          <a:p>
            <a:pPr marL="25400" indent="0">
              <a:buNone/>
            </a:pPr>
            <a:r>
              <a:rPr lang="en-US" dirty="0"/>
              <a:t>- Local Communities</a:t>
            </a:r>
          </a:p>
          <a:p>
            <a:pPr marL="25400" indent="0">
              <a:buNone/>
            </a:pPr>
            <a:r>
              <a:rPr lang="en-US" dirty="0"/>
              <a:t>-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60A2C-CCAD-42AC-E30E-B29C146D5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62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DF78-F7A8-1EA2-F0CE-DE5F2BC6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Sustainable Management and Development of Agriculture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02CBF-8B63-92FF-734B-3D0F2C221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63099"/>
            <a:ext cx="11582400" cy="2677885"/>
          </a:xfrm>
        </p:spPr>
        <p:txBody>
          <a:bodyPr/>
          <a:lstStyle/>
          <a:p>
            <a:r>
              <a:rPr lang="en-US" dirty="0"/>
              <a:t>High interest &amp; high power</a:t>
            </a:r>
          </a:p>
          <a:p>
            <a:r>
              <a:rPr lang="en-US" dirty="0"/>
              <a:t>Working with NGOs to implement more sustainable farming techniques  </a:t>
            </a:r>
          </a:p>
          <a:p>
            <a:r>
              <a:rPr lang="en-US" dirty="0"/>
              <a:t>Building trust and relationships with on the ground partners </a:t>
            </a:r>
          </a:p>
          <a:p>
            <a:pPr lvl="1"/>
            <a:r>
              <a:rPr lang="en-US" dirty="0"/>
              <a:t>Education</a:t>
            </a:r>
          </a:p>
          <a:p>
            <a:pPr marL="508000" lvl="1" indent="0">
              <a:buNone/>
            </a:pPr>
            <a:endParaRPr lang="en-US" dirty="0"/>
          </a:p>
          <a:p>
            <a:pPr marL="5080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E1B9E-7BB7-1B1C-8596-E8EDAD1430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36D0F-EF70-174C-FABC-F39AF60C9572}"/>
              </a:ext>
            </a:extLst>
          </p:cNvPr>
          <p:cNvSpPr txBox="1"/>
          <p:nvPr/>
        </p:nvSpPr>
        <p:spPr>
          <a:xfrm>
            <a:off x="304800" y="4548030"/>
            <a:ext cx="1079944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dk1"/>
                </a:solidFill>
                <a:latin typeface="Georgia"/>
                <a:sym typeface="Georgia"/>
              </a:rPr>
              <a:t>   Continued incentives through tax breaks and subsidies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dk1"/>
                </a:solidFill>
                <a:latin typeface="Georgia"/>
                <a:sym typeface="Georgia"/>
              </a:rPr>
              <a:t>   Future: native &amp; less water intensive agriculture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8CA4-A345-0E9A-093A-F9B5AB73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AEE7-8C73-B1CA-ED44-B8EC8C84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84590"/>
            <a:ext cx="10972800" cy="1143000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671E0-68C1-B0C7-CA1B-AE7B30A66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25753"/>
            <a:ext cx="10972800" cy="5015818"/>
          </a:xfrm>
        </p:spPr>
        <p:txBody>
          <a:bodyPr/>
          <a:lstStyle/>
          <a:p>
            <a:pPr marL="25400" indent="0">
              <a:buNone/>
            </a:pPr>
            <a:r>
              <a:rPr lang="en-US" dirty="0"/>
              <a:t>Agriculture</a:t>
            </a:r>
          </a:p>
          <a:p>
            <a:pPr marL="25400" indent="0">
              <a:buNone/>
            </a:pPr>
            <a:endParaRPr lang="en-US" sz="2000" dirty="0"/>
          </a:p>
          <a:p>
            <a:pPr marL="25400" indent="0">
              <a:buNone/>
            </a:pPr>
            <a:r>
              <a:rPr lang="en-US" sz="2400" dirty="0"/>
              <a:t>2026 – Start working with NGOs, implementing sustainable farming practices with on-the-ground partners, and distributing educational materials</a:t>
            </a:r>
          </a:p>
          <a:p>
            <a:pPr marL="25400" indent="0">
              <a:buNone/>
            </a:pPr>
            <a:endParaRPr lang="en-US" sz="2400" dirty="0"/>
          </a:p>
          <a:p>
            <a:pPr marL="25400" indent="0">
              <a:buNone/>
            </a:pPr>
            <a:r>
              <a:rPr lang="en-US" sz="2400" dirty="0"/>
              <a:t>2028 – implement tax breaks and subsidies to continue funding and incentivizing programs</a:t>
            </a:r>
          </a:p>
          <a:p>
            <a:pPr marL="25400" indent="0">
              <a:buNone/>
            </a:pPr>
            <a:endParaRPr lang="en-US" sz="2400" dirty="0"/>
          </a:p>
          <a:p>
            <a:pPr marL="25400" indent="0">
              <a:buNone/>
            </a:pPr>
            <a:r>
              <a:rPr lang="en-US" sz="2400" dirty="0"/>
              <a:t>2035 and beyond – Introduce and popularize better adapted game farming animals</a:t>
            </a:r>
          </a:p>
          <a:p>
            <a:pPr marL="2540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B137B-7B0E-5BC2-52E4-4F4E475B49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56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0B67-16E8-0017-7377-2A256B90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6664"/>
            <a:ext cx="10972800" cy="1143000"/>
          </a:xfrm>
        </p:spPr>
        <p:txBody>
          <a:bodyPr/>
          <a:lstStyle/>
          <a:p>
            <a:r>
              <a:rPr lang="en-US" sz="3200" dirty="0"/>
              <a:t>Sustainable Management and Development of Water</a:t>
            </a:r>
            <a:endParaRPr lang="en-US" sz="3200" b="0" dirty="0">
              <a:solidFill>
                <a:schemeClr val="dk1"/>
              </a:solidFill>
              <a:latin typeface="Georgia"/>
              <a:sym typeface="Georg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B515E-63C7-5885-DE80-B5D8285FF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85" y="1025748"/>
            <a:ext cx="11576957" cy="4708526"/>
          </a:xfrm>
        </p:spPr>
        <p:txBody>
          <a:bodyPr/>
          <a:lstStyle/>
          <a:p>
            <a:pPr marL="25400" indent="0">
              <a:buNone/>
            </a:pPr>
            <a:r>
              <a:rPr lang="en-US" sz="2800" b="1" dirty="0"/>
              <a:t>Water security for an arid nation</a:t>
            </a:r>
          </a:p>
          <a:p>
            <a:pPr marL="25400" indent="0">
              <a:buNone/>
            </a:pPr>
            <a:r>
              <a:rPr lang="en-US" sz="2800" dirty="0"/>
              <a:t>2026 – work with SADC, African Union, EU to diversify water supply</a:t>
            </a:r>
          </a:p>
          <a:p>
            <a:pPr marL="25400" indent="0">
              <a:buNone/>
            </a:pPr>
            <a:r>
              <a:rPr lang="en-US" sz="2800" dirty="0"/>
              <a:t>2026 – Improve water monitoring</a:t>
            </a:r>
          </a:p>
          <a:p>
            <a:pPr marL="25400" indent="0">
              <a:buNone/>
            </a:pPr>
            <a:r>
              <a:rPr lang="en-US" sz="2800" dirty="0"/>
              <a:t>2030 – expanded desalination plants provide water</a:t>
            </a:r>
          </a:p>
          <a:p>
            <a:pPr marL="25400" indent="0">
              <a:buNone/>
            </a:pPr>
            <a:r>
              <a:rPr lang="en-US" sz="2800" dirty="0"/>
              <a:t>2035 – wastewater recycling </a:t>
            </a:r>
          </a:p>
          <a:p>
            <a:pPr marL="25400" indent="0">
              <a:buNone/>
            </a:pPr>
            <a:r>
              <a:rPr lang="en-US" sz="2800" dirty="0"/>
              <a:t>Ongoing – improved sanitation</a:t>
            </a:r>
          </a:p>
          <a:p>
            <a:pPr marL="25400" indent="0">
              <a:buNone/>
            </a:pPr>
            <a:r>
              <a:rPr lang="en-US" sz="2800" b="1" dirty="0"/>
              <a:t>Outcomes:</a:t>
            </a:r>
          </a:p>
          <a:p>
            <a:r>
              <a:rPr lang="en-US" sz="2800" dirty="0"/>
              <a:t>Healthy Okavango River Basin</a:t>
            </a:r>
          </a:p>
          <a:p>
            <a:r>
              <a:rPr lang="en-US" sz="2800" dirty="0"/>
              <a:t>Reliable water access for Namibia</a:t>
            </a:r>
          </a:p>
          <a:p>
            <a:pPr marL="25400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E389D-84A7-2229-17F4-BB35F9EFA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99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F29C-D013-DF2A-BBE2-62C20677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Sustainable Management and Development for Tourism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15CAC-6F0A-638D-22D4-AAFDA12F4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Partnering with tourist agencies to monitor water quality and biodiversity</a:t>
            </a:r>
          </a:p>
          <a:p>
            <a:pPr marL="25400" indent="0">
              <a:buNone/>
            </a:pPr>
            <a:r>
              <a:rPr lang="en-US" dirty="0"/>
              <a:t>- high interest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EB276-BB76-3E93-624B-0FDF90920D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76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AB04-9BDA-7A41-409F-ECE9354F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Sustainable Management and Development for  Communities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70BC3-ADBE-5D18-39F9-DE7F95EB9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Improving community livelihoods through Community –based Natural Resources Management by</a:t>
            </a:r>
          </a:p>
          <a:p>
            <a:r>
              <a:rPr lang="en-US" dirty="0"/>
              <a:t>Improving tourism &amp; agriculture </a:t>
            </a:r>
          </a:p>
          <a:p>
            <a:r>
              <a:rPr lang="en-US" dirty="0"/>
              <a:t>Indigenous knowledge and scientific intertwined strategies</a:t>
            </a:r>
          </a:p>
          <a:p>
            <a:r>
              <a:rPr lang="en-US" dirty="0"/>
              <a:t>Community forums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B6BE1-F5CD-682F-D6F1-1C817315B9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60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05C1-F59D-37B8-DD9D-914F8D45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5021"/>
            <a:ext cx="10972800" cy="1143000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CB7A-067F-7568-DC1F-CC5EEDB0A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40049"/>
            <a:ext cx="10972800" cy="4525963"/>
          </a:xfrm>
        </p:spPr>
        <p:txBody>
          <a:bodyPr/>
          <a:lstStyle/>
          <a:p>
            <a:pPr marL="25400" indent="0">
              <a:buNone/>
            </a:pPr>
            <a:r>
              <a:rPr lang="en-US" dirty="0"/>
              <a:t>Communities</a:t>
            </a:r>
            <a:endParaRPr lang="en-US" sz="2400" dirty="0"/>
          </a:p>
          <a:p>
            <a:r>
              <a:rPr lang="en-US" sz="2400" dirty="0"/>
              <a:t>Improving tourism and agriculture</a:t>
            </a:r>
          </a:p>
          <a:p>
            <a:endParaRPr lang="en-US" sz="2400" dirty="0"/>
          </a:p>
          <a:p>
            <a:pPr marL="25400" indent="0">
              <a:buNone/>
            </a:pPr>
            <a:r>
              <a:rPr lang="en-US" sz="2400" dirty="0"/>
              <a:t>2026 – Initiate community forums </a:t>
            </a:r>
          </a:p>
          <a:p>
            <a:pPr marL="25400" indent="0">
              <a:buNone/>
            </a:pPr>
            <a:endParaRPr lang="en-US" sz="2400" dirty="0"/>
          </a:p>
          <a:p>
            <a:pPr marL="25400" indent="0">
              <a:buNone/>
            </a:pPr>
            <a:r>
              <a:rPr lang="en-US" sz="2400" dirty="0"/>
              <a:t>2027 – Implement special allowances</a:t>
            </a:r>
          </a:p>
          <a:p>
            <a:pPr marL="25400" indent="0">
              <a:buNone/>
            </a:pPr>
            <a:endParaRPr lang="en-US" sz="2400" dirty="0"/>
          </a:p>
          <a:p>
            <a:pPr marL="25400" indent="0">
              <a:buNone/>
            </a:pPr>
            <a:r>
              <a:rPr lang="en-US" sz="2400" dirty="0"/>
              <a:t>2028 and beyond – Incorporate indigenous knowledge into natural resource management and increase documentation of traditional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94874-D0F2-ED6B-E7B3-19817041D6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4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0572-C233-C555-28F2-19F040D5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to Align with OKACOM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69474-F786-CAB7-7F61-37BB4B6AC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policies for our management of the basin as climate change progresses</a:t>
            </a:r>
          </a:p>
          <a:p>
            <a:r>
              <a:rPr lang="en-US" dirty="0"/>
              <a:t>Expand upon National Biodiversity Action Plan</a:t>
            </a:r>
          </a:p>
          <a:p>
            <a:r>
              <a:rPr lang="en-US" dirty="0"/>
              <a:t>Initiate further anti-poaching regulations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B6601-B38D-9B38-63B8-12D3FEC3A9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4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1907-387F-E840-18F9-482687E7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alm trees at sunset&#10;&#10;AI-generated content may be incorrect.">
            <a:extLst>
              <a:ext uri="{FF2B5EF4-FFF2-40B4-BE49-F238E27FC236}">
                <a16:creationId xmlns:a16="http://schemas.microsoft.com/office/drawing/2014/main" id="{C31EA1A5-EAC2-DFF6-2DDE-AD85C3D89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211"/>
          <a:stretch/>
        </p:blipFill>
        <p:spPr>
          <a:xfrm>
            <a:off x="-85272" y="0"/>
            <a:ext cx="122772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9551F6-4EC2-84B4-D04D-7D64C004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Conclusion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18FC-2CE0-4960-A785-A3CCBC4E6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40B1CB-78A8-D00A-68E1-96066F544CA9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4389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271B-269B-81C7-1C14-EEF50C72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DD35-B228-AC3D-324C-44C14F8D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Conclusion and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A1124-E042-A2D8-4EC0-1E3BBAF59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take a multi-faceted approach to promote improved livelihoods and ecological conservation</a:t>
            </a:r>
          </a:p>
          <a:p>
            <a:pPr marL="25400" indent="0">
              <a:buNone/>
            </a:pPr>
            <a:r>
              <a:rPr lang="en-US" dirty="0"/>
              <a:t>- Agriculture, water, tourism, communities, and policies</a:t>
            </a:r>
          </a:p>
          <a:p>
            <a:r>
              <a:rPr lang="en-US" dirty="0"/>
              <a:t>Investment from NGOs and government partners</a:t>
            </a:r>
          </a:p>
          <a:p>
            <a:r>
              <a:rPr lang="en-US" dirty="0"/>
              <a:t>Intent to re-evaluate for adaptive management</a:t>
            </a:r>
          </a:p>
          <a:p>
            <a:r>
              <a:rPr lang="en-US" dirty="0"/>
              <a:t>Continue transboundary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2757-CFBA-D636-2A2A-A064E01724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74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2826-F795-28AF-267B-861BDE98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75BD-AD73-012B-A796-A871F765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Stakeholder Question &amp; Answers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0BE15-3459-D4DB-73A7-EC26102D6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54B96A-84D8-D407-1D3E-906A6A87C710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4246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 idx="4294967295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</a:pPr>
            <a:r>
              <a:rPr lang="en-US"/>
              <a:t>Holding Page for Executive Summary / Presentation Overview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4294967295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Tbc last once final content is agreed</a:t>
            </a:r>
            <a:endParaRPr/>
          </a:p>
          <a:p>
            <a:pPr marL="457200" marR="0" lvl="0" indent="-228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>
              <a:highlight>
                <a:srgbClr val="FFFF00"/>
              </a:highlight>
            </a:endParaRPr>
          </a:p>
          <a:p>
            <a:pPr marL="457200" marR="0" lvl="0" indent="-4318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Note: all formatting (including colours and font size) to be edited/reviewed once text is agreed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0525" y="2543075"/>
            <a:ext cx="4618174" cy="291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8873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3F185E34AE8445A258416BCE4C4790" ma:contentTypeVersion="15" ma:contentTypeDescription="Create a new document." ma:contentTypeScope="" ma:versionID="9dd71225fe2c515185138edf54b0840c">
  <xsd:schema xmlns:xsd="http://www.w3.org/2001/XMLSchema" xmlns:xs="http://www.w3.org/2001/XMLSchema" xmlns:p="http://schemas.microsoft.com/office/2006/metadata/properties" xmlns:ns2="caf87056-3fd3-4038-9c52-89882ecde542" xmlns:ns3="4402e8a7-1b7c-4b21-babd-e2cbbfb12e1e" targetNamespace="http://schemas.microsoft.com/office/2006/metadata/properties" ma:root="true" ma:fieldsID="372c34ec370559d7db21b77c8beddc41" ns2:_="" ns3:_="">
    <xsd:import namespace="caf87056-3fd3-4038-9c52-89882ecde542"/>
    <xsd:import namespace="4402e8a7-1b7c-4b21-babd-e2cbbfb12e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87056-3fd3-4038-9c52-89882ecde5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2e8a7-1b7c-4b21-babd-e2cbbfb12e1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d48e018-f0f4-41cf-aecd-d8dbd2aa4cdd}" ma:internalName="TaxCatchAll" ma:showField="CatchAllData" ma:web="4402e8a7-1b7c-4b21-babd-e2cbbfb12e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02e8a7-1b7c-4b21-babd-e2cbbfb12e1e" xsi:nil="true"/>
    <lcf76f155ced4ddcb4097134ff3c332f xmlns="caf87056-3fd3-4038-9c52-89882ecde5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AB80AB-D22E-4004-8C9F-E237BA650606}"/>
</file>

<file path=customXml/itemProps2.xml><?xml version="1.0" encoding="utf-8"?>
<ds:datastoreItem xmlns:ds="http://schemas.openxmlformats.org/officeDocument/2006/customXml" ds:itemID="{DE8F0C6B-D426-498E-8C81-E603EA2DFEB1}"/>
</file>

<file path=customXml/itemProps3.xml><?xml version="1.0" encoding="utf-8"?>
<ds:datastoreItem xmlns:ds="http://schemas.openxmlformats.org/officeDocument/2006/customXml" ds:itemID="{FC947B92-6C2D-4D59-A348-0D3057002E02}"/>
</file>

<file path=docProps/app.xml><?xml version="1.0" encoding="utf-8"?>
<Properties xmlns="http://schemas.openxmlformats.org/officeDocument/2006/extended-properties" xmlns:vt="http://schemas.openxmlformats.org/officeDocument/2006/docPropsVTypes">
  <TotalTime>4642</TotalTime>
  <Words>833</Words>
  <Application>Microsoft Macintosh PowerPoint</Application>
  <PresentationFormat>Widescreen</PresentationFormat>
  <Paragraphs>135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Narrow</vt:lpstr>
      <vt:lpstr>Calibri</vt:lpstr>
      <vt:lpstr>Georgia</vt:lpstr>
      <vt:lpstr>Simple Light</vt:lpstr>
      <vt:lpstr>Sustainable Management and Development for the Cubango Okavango River Basin: Building Community Resilience</vt:lpstr>
      <vt:lpstr>Introduction to the Cubango Okavango River Basin</vt:lpstr>
      <vt:lpstr>The Cubango Okavango River Basin</vt:lpstr>
      <vt:lpstr>Country Context: Spotlight on Namibia</vt:lpstr>
      <vt:lpstr>Sustainable Management and Development for the Okavango Delta</vt:lpstr>
      <vt:lpstr>Our Values and Guiding Principles: Improved Livelihoods and Ecological Conservation</vt:lpstr>
      <vt:lpstr>Stakeholder Identification &amp; Analysis </vt:lpstr>
      <vt:lpstr>Stakeholder Identification &amp; Analysis</vt:lpstr>
      <vt:lpstr>Proposed Sustainable Development Strategy </vt:lpstr>
      <vt:lpstr>Sustainable Management and Development of Agriculture</vt:lpstr>
      <vt:lpstr>Timeline</vt:lpstr>
      <vt:lpstr>Sustainable Management and Development of Water</vt:lpstr>
      <vt:lpstr>Sustainable Management and Development for Tourism</vt:lpstr>
      <vt:lpstr>Sustainable Management and Development for  Communities</vt:lpstr>
      <vt:lpstr>Timeline</vt:lpstr>
      <vt:lpstr>Policies to Align with OKACOM</vt:lpstr>
      <vt:lpstr>Conclusion and Recommendations</vt:lpstr>
      <vt:lpstr> Conclusion and Recommendations</vt:lpstr>
      <vt:lpstr>Stakeholder Question &amp; Answers</vt:lpstr>
      <vt:lpstr>Holding Page for Executive Summary / Presentation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Holding Page for Executive Summary / Presentation Overview</dc:title>
  <dc:creator>Jo Griffiths</dc:creator>
  <cp:lastModifiedBy>Paige Hebert</cp:lastModifiedBy>
  <cp:revision>35</cp:revision>
  <dcterms:created xsi:type="dcterms:W3CDTF">2020-02-13T05:58:31Z</dcterms:created>
  <dcterms:modified xsi:type="dcterms:W3CDTF">2025-07-06T13:03:02Z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0x010100853F185E34AE8445A258416BCE4C4790</vt:lpwstr>
  </property>
</Properties>
</file>